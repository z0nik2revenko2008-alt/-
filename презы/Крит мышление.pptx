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6FD50E-A376-4C8C-B67C-5E17BB776888}" type="datetimeFigureOut">
              <a:rPr lang="ru-RU" smtClean="0"/>
              <a:t>21.02.2024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21F1C6-F681-4F85-9EA0-632753A079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7305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21F1C6-F681-4F85-9EA0-632753A0798B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23996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21F1C6-F681-4F85-9EA0-632753A0798B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1553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F2F2F8-0625-D654-AA1B-34F30C1713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8430EAB-187D-6BD7-62A4-FCFCCEE46E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9AFB3E-E4FE-D71E-4E9C-85747F1BB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4C2DF-22E8-4A46-9D3C-85AB60AA6D2B}" type="datetimeFigureOut">
              <a:rPr lang="ru-RU" smtClean="0"/>
              <a:t>21.02.2024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FC6735-34FE-1B35-6450-8183891CF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6EF73B-D5F1-C80B-1598-18B3CF954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433-AA62-4E63-9887-3B6736CAE8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3793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6EF6FA-FFC4-8300-ADFF-8D88E7F96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07CAC8-ACA4-C39A-63BB-B5B079D40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5CBB2B-18C0-4A9D-A852-FF51E28C9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4C2DF-22E8-4A46-9D3C-85AB60AA6D2B}" type="datetimeFigureOut">
              <a:rPr lang="ru-RU" smtClean="0"/>
              <a:t>21.02.2024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7E4EF5-4C3E-1C4B-0AB7-65C57694E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6B510A-84EF-B3CA-E855-D8180473F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433-AA62-4E63-9887-3B6736CAE8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4388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DC6494-0E18-04ED-50F7-54515B82D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E5A5BD-A98A-279E-D21D-D41BA0376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12257E-07B0-6D40-3ECB-262397A52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4C2DF-22E8-4A46-9D3C-85AB60AA6D2B}" type="datetimeFigureOut">
              <a:rPr lang="ru-RU" smtClean="0"/>
              <a:t>21.02.2024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934134-CE53-8DA1-38A2-DCDB39446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053738-0892-C4ED-8475-0EB2878F4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433-AA62-4E63-9887-3B6736CAE8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487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8D7686-B711-EC3A-124E-6F8544433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E81C00-001D-8CCB-7D2E-0F6D93BF9F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8043BB7-80E2-8C6F-D285-49B3499AF8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2D5D80E-2E3C-1C2D-62CE-F5C35B5E2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4C2DF-22E8-4A46-9D3C-85AB60AA6D2B}" type="datetimeFigureOut">
              <a:rPr lang="ru-RU" smtClean="0"/>
              <a:t>21.02.2024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D8AA1A1-E4E4-6493-0418-E2EB46013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93231DC-14BF-4FE6-6343-99F0D9C18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433-AA62-4E63-9887-3B6736CAE8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1900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54756A-7140-0F1E-9EA3-B4FCF9DED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DF09B52-A1E0-8CC0-4F57-85521D238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C20224F-4E59-1488-AB68-18ECB485A1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D49EDA4-4D37-2FF5-03E1-1E41AD92B1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B5F1F66-A2F6-F817-9D71-4D787AD284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3DDBEB0-70D2-27FF-D3B8-69B4DE522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4C2DF-22E8-4A46-9D3C-85AB60AA6D2B}" type="datetimeFigureOut">
              <a:rPr lang="ru-RU" smtClean="0"/>
              <a:t>21.02.2024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8A25FEE-7694-37E9-C189-DC0529CE1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07C8484-7901-AA13-4693-FC365DB01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433-AA62-4E63-9887-3B6736CAE8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9474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E380DE-5029-C5E9-4887-20E39F079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F160BD8-7F89-9A01-E6F1-0F4020B40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4C2DF-22E8-4A46-9D3C-85AB60AA6D2B}" type="datetimeFigureOut">
              <a:rPr lang="ru-RU" smtClean="0"/>
              <a:t>21.02.2024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541468C-984C-6B31-792C-B95257E7F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71C9381-35C8-AE1E-96EA-B26D7F5E3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433-AA62-4E63-9887-3B6736CAE8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7325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D6058BC-CA95-68EB-2501-4657F558E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4C2DF-22E8-4A46-9D3C-85AB60AA6D2B}" type="datetimeFigureOut">
              <a:rPr lang="ru-RU" smtClean="0"/>
              <a:t>21.02.2024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70A87E7-E385-B764-AF1A-592D448DA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63BA926-4DBE-BD51-E742-D33781A80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433-AA62-4E63-9887-3B6736CAE8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2414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C366D5-FEF8-0CA3-0DA4-2A24536F2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0F67FE-7619-3192-E91E-BCBC678F1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5B061AD-60D5-DD9F-18C0-1F16B529DC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F8234AA-ED39-C272-889B-2CB1B5860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4C2DF-22E8-4A46-9D3C-85AB60AA6D2B}" type="datetimeFigureOut">
              <a:rPr lang="ru-RU" smtClean="0"/>
              <a:t>21.02.2024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538B201-B3A2-076B-EE59-7ADD11A3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DA15C6C-3F3A-9376-2D45-116F86ACA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433-AA62-4E63-9887-3B6736CAE8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0525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1C8BE6-4FD0-F402-0AA0-EFA51D7CE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682A8C2-AC02-3052-7FE0-9BAF9535C5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E1B6618-4732-5FDB-F8BB-536F6609A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EC5F12D-FCF0-9214-1180-944541226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4C2DF-22E8-4A46-9D3C-85AB60AA6D2B}" type="datetimeFigureOut">
              <a:rPr lang="ru-RU" smtClean="0"/>
              <a:t>21.02.2024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13E71A9-D124-5AE7-F31B-2B4C48D7E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22F1F12-5263-B51A-2A2A-79B999217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433-AA62-4E63-9887-3B6736CAE8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8197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5ACCFD-CB18-F183-A2A8-675C7C913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469BB97-033F-D6D0-E5F4-73D946C20D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2A1EEB-9882-3BA2-B4E9-7BDCA6563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4C2DF-22E8-4A46-9D3C-85AB60AA6D2B}" type="datetimeFigureOut">
              <a:rPr lang="ru-RU" smtClean="0"/>
              <a:t>21.02.2024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3357A5-80B0-21FA-DCDB-6BF7D3DC7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411FC5-3A1B-4F74-E210-6E57FA85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433-AA62-4E63-9887-3B6736CAE8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4996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A3FCC19-38E9-37A7-7A87-D6E1FD37B1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17ACB45-770C-96D3-DB15-D7DA0C475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378534-B624-F394-845B-A81387D81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4C2DF-22E8-4A46-9D3C-85AB60AA6D2B}" type="datetimeFigureOut">
              <a:rPr lang="ru-RU" smtClean="0"/>
              <a:t>21.02.2024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224F8C9-49C3-EF4C-57D6-9CD6356A2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C313F9-F21E-0E31-27A5-7E2336D0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433-AA62-4E63-9887-3B6736CAE8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8070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4B2C34-4BF8-FFC6-EE52-5607FAB0B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1117DB8-666C-9DE1-67FC-BF8EC7C02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B1C695-7581-377A-2EF8-52BF209F68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4C2DF-22E8-4A46-9D3C-85AB60AA6D2B}" type="datetimeFigureOut">
              <a:rPr lang="ru-RU" smtClean="0"/>
              <a:t>21.02.2024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FEA01F-E642-8E2D-FEE8-4334018C3C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159D9C-108E-E254-5C4A-1CEA9E4314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225433-AA62-4E63-9887-3B6736CAE8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2776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275C82-D0BF-AA1A-A348-B0EF2E37F01B}"/>
              </a:ext>
            </a:extLst>
          </p:cNvPr>
          <p:cNvSpPr txBox="1"/>
          <p:nvPr/>
        </p:nvSpPr>
        <p:spPr>
          <a:xfrm>
            <a:off x="-170509" y="73544"/>
            <a:ext cx="52495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5400" dirty="0">
                <a:solidFill>
                  <a:schemeClr val="bg1"/>
                </a:solidFill>
              </a:rPr>
              <a:t>Уйти от проблем…</a:t>
            </a:r>
            <a:endParaRPr lang="ru-RU" sz="5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66800A-9D05-583D-B322-3FAC01F57755}"/>
              </a:ext>
            </a:extLst>
          </p:cNvPr>
          <p:cNvSpPr txBox="1"/>
          <p:nvPr/>
        </p:nvSpPr>
        <p:spPr>
          <a:xfrm>
            <a:off x="7059440" y="2551837"/>
            <a:ext cx="609750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dirty="0">
                <a:solidFill>
                  <a:schemeClr val="bg1"/>
                </a:solidFill>
              </a:rPr>
              <a:t>Утренняя     пробежка…</a:t>
            </a:r>
            <a:endParaRPr lang="ru-RU" sz="5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772612-3648-FB54-9B72-0EBB021B532F}"/>
              </a:ext>
            </a:extLst>
          </p:cNvPr>
          <p:cNvSpPr txBox="1"/>
          <p:nvPr/>
        </p:nvSpPr>
        <p:spPr>
          <a:xfrm>
            <a:off x="-67900" y="5030130"/>
            <a:ext cx="62378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dirty="0">
                <a:solidFill>
                  <a:schemeClr val="bg1"/>
                </a:solidFill>
              </a:rPr>
              <a:t>Уборка…</a:t>
            </a:r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1605082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275C82-D0BF-AA1A-A348-B0EF2E37F01B}"/>
              </a:ext>
            </a:extLst>
          </p:cNvPr>
          <p:cNvSpPr txBox="1"/>
          <p:nvPr/>
        </p:nvSpPr>
        <p:spPr>
          <a:xfrm>
            <a:off x="-170509" y="-1721812"/>
            <a:ext cx="52495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5400" dirty="0">
                <a:solidFill>
                  <a:schemeClr val="bg1"/>
                </a:solidFill>
              </a:rPr>
              <a:t>Уйти от проблем…</a:t>
            </a:r>
            <a:endParaRPr lang="ru-RU" sz="5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66800A-9D05-583D-B322-3FAC01F57755}"/>
              </a:ext>
            </a:extLst>
          </p:cNvPr>
          <p:cNvSpPr txBox="1"/>
          <p:nvPr/>
        </p:nvSpPr>
        <p:spPr>
          <a:xfrm>
            <a:off x="11659432" y="2551837"/>
            <a:ext cx="609750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dirty="0">
                <a:solidFill>
                  <a:schemeClr val="bg1"/>
                </a:solidFill>
              </a:rPr>
              <a:t>Утренняя     пробежка…</a:t>
            </a:r>
            <a:endParaRPr lang="ru-RU" sz="5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772612-3648-FB54-9B72-0EBB021B532F}"/>
              </a:ext>
            </a:extLst>
          </p:cNvPr>
          <p:cNvSpPr txBox="1"/>
          <p:nvPr/>
        </p:nvSpPr>
        <p:spPr>
          <a:xfrm>
            <a:off x="-5040739" y="5030130"/>
            <a:ext cx="62378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dirty="0">
                <a:solidFill>
                  <a:schemeClr val="bg1"/>
                </a:solidFill>
              </a:rPr>
              <a:t>Уборка…</a:t>
            </a:r>
            <a:endParaRPr lang="ru-RU" sz="5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EAA42E-7BB6-93B4-0C2D-DB05CBCE1A1D}"/>
              </a:ext>
            </a:extLst>
          </p:cNvPr>
          <p:cNvSpPr txBox="1"/>
          <p:nvPr/>
        </p:nvSpPr>
        <p:spPr>
          <a:xfrm>
            <a:off x="4201091" y="2828835"/>
            <a:ext cx="53697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7200" dirty="0">
                <a:solidFill>
                  <a:schemeClr val="bg1"/>
                </a:solidFill>
              </a:rPr>
              <a:t>МУЗЫКА</a:t>
            </a:r>
          </a:p>
        </p:txBody>
      </p:sp>
    </p:spTree>
    <p:extLst>
      <p:ext uri="{BB962C8B-B14F-4D97-AF65-F5344CB8AC3E}">
        <p14:creationId xmlns:p14="http://schemas.microsoft.com/office/powerpoint/2010/main" val="12306007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852AE60-1305-B9A4-F95A-ACEED3665F63}"/>
              </a:ext>
            </a:extLst>
          </p:cNvPr>
          <p:cNvSpPr txBox="1"/>
          <p:nvPr/>
        </p:nvSpPr>
        <p:spPr>
          <a:xfrm>
            <a:off x="783771" y="901966"/>
            <a:ext cx="7678057" cy="1980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1000"/>
              </a:lnSpc>
              <a:spcAft>
                <a:spcPts val="915"/>
              </a:spcAft>
            </a:pPr>
            <a:r>
              <a:rPr lang="ru-RU" sz="28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1. Гипотеза: Музыка с высоким темпом и яркими мелодиями стимулирует выделение эндорфинов и серотонина, улучшая настроение и снижая </a:t>
            </a:r>
            <a:r>
              <a:rPr lang="ru-RU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уровень стресса.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4EC5B8-6C18-033D-F805-8CBB549EE3AF}"/>
              </a:ext>
            </a:extLst>
          </p:cNvPr>
          <p:cNvSpPr txBox="1"/>
          <p:nvPr/>
        </p:nvSpPr>
        <p:spPr>
          <a:xfrm>
            <a:off x="783771" y="2882636"/>
            <a:ext cx="7678057" cy="2458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1000"/>
              </a:lnSpc>
              <a:spcAft>
                <a:spcPts val="915"/>
              </a:spcAft>
            </a:pPr>
            <a:r>
              <a:rPr lang="ru-RU" sz="28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2. Гипотеза: Музыка может изменить эмоциональное состояние человека, вызывая определенные ассоциации и воспоминания. Это может быть полезно в психологической работе и терапии.</a:t>
            </a:r>
          </a:p>
        </p:txBody>
      </p:sp>
    </p:spTree>
    <p:extLst>
      <p:ext uri="{BB962C8B-B14F-4D97-AF65-F5344CB8AC3E}">
        <p14:creationId xmlns:p14="http://schemas.microsoft.com/office/powerpoint/2010/main" val="17097601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DBA1FD7-C839-9D84-8B4B-44CB4147F0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36637" y="-3474359"/>
            <a:ext cx="7771447" cy="1380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7156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24E2D10-095B-A8A5-1ED6-46EDF59E3C4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51"/>
          <a:stretch/>
        </p:blipFill>
        <p:spPr bwMode="auto">
          <a:xfrm>
            <a:off x="1405845" y="396907"/>
            <a:ext cx="9102498" cy="5945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23D6C03-DD39-8507-612A-1A15E5281C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143" y="-5361664"/>
            <a:ext cx="5080000" cy="52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1191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6005519-6956-1BFB-3226-C2508D4DB9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0468" y="7387626"/>
            <a:ext cx="4419340" cy="583948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F1D145A-15A6-8AAA-85A4-229516EA4D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121" y="613624"/>
            <a:ext cx="5080000" cy="52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8796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742CC28-2E7D-FDA7-21FD-8F130A3EBF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9276" y="353084"/>
            <a:ext cx="4419340" cy="583948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8425151-C971-677E-2621-C747C0FA0E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587" y="7023477"/>
            <a:ext cx="5080000" cy="52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3074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904980-515F-BCD0-DA79-C2E694621F5A}"/>
              </a:ext>
            </a:extLst>
          </p:cNvPr>
          <p:cNvSpPr txBox="1"/>
          <p:nvPr/>
        </p:nvSpPr>
        <p:spPr>
          <a:xfrm>
            <a:off x="3969657" y="0"/>
            <a:ext cx="42526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dirty="0">
                <a:solidFill>
                  <a:schemeClr val="bg1"/>
                </a:solidFill>
              </a:rPr>
              <a:t>Эксперимент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AF5B60-3DA4-7B53-ADC3-53B8C6B6B61B}"/>
              </a:ext>
            </a:extLst>
          </p:cNvPr>
          <p:cNvSpPr txBox="1"/>
          <p:nvPr/>
        </p:nvSpPr>
        <p:spPr>
          <a:xfrm>
            <a:off x="1081313" y="2104572"/>
            <a:ext cx="1002937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solidFill>
                  <a:schemeClr val="bg1"/>
                </a:solidFill>
              </a:rPr>
              <a:t>Что будет если решить человека музыки на 30 дней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AAEAA56-66B4-21D8-E43B-FB1555931B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1872" y="-6038385"/>
            <a:ext cx="4419340" cy="5839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8826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01D949-73E8-62A1-E1A4-F8D6DDF6C517}"/>
              </a:ext>
            </a:extLst>
          </p:cNvPr>
          <p:cNvSpPr txBox="1"/>
          <p:nvPr/>
        </p:nvSpPr>
        <p:spPr>
          <a:xfrm>
            <a:off x="145143" y="188686"/>
            <a:ext cx="84908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Условия эксперимента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50F5B6-F326-A919-2E35-037FA494EBC4}"/>
              </a:ext>
            </a:extLst>
          </p:cNvPr>
          <p:cNvSpPr txBox="1"/>
          <p:nvPr/>
        </p:nvSpPr>
        <p:spPr>
          <a:xfrm>
            <a:off x="870857" y="1496872"/>
            <a:ext cx="6096000" cy="5172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ts val="2100"/>
              </a:lnSpc>
              <a:spcBef>
                <a:spcPts val="450"/>
              </a:spcBef>
              <a:spcAft>
                <a:spcPts val="1500"/>
              </a:spcAft>
              <a:buFont typeface="Symbol" panose="05050102010706020507" pitchFamily="18" charset="2"/>
              <a:buChar char=""/>
            </a:pPr>
            <a:r>
              <a:rPr lang="ru-RU" sz="28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Стараться полностью избегать любой музыки.</a:t>
            </a:r>
          </a:p>
          <a:p>
            <a:pPr marL="342900" lvl="0" indent="-342900">
              <a:lnSpc>
                <a:spcPts val="2100"/>
              </a:lnSpc>
              <a:spcBef>
                <a:spcPts val="450"/>
              </a:spcBef>
              <a:spcAft>
                <a:spcPts val="1500"/>
              </a:spcAft>
              <a:buFont typeface="Symbol" panose="05050102010706020507" pitchFamily="18" charset="2"/>
              <a:buChar char=""/>
            </a:pPr>
            <a:r>
              <a:rPr lang="ru-RU" sz="28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В течение эксперимента подопытный должен воздержаться от эмоциональных раздражителей.</a:t>
            </a:r>
          </a:p>
          <a:p>
            <a:pPr marL="342900" lvl="0" indent="-342900">
              <a:lnSpc>
                <a:spcPts val="2100"/>
              </a:lnSpc>
              <a:spcBef>
                <a:spcPts val="450"/>
              </a:spcBef>
              <a:spcAft>
                <a:spcPts val="1500"/>
              </a:spcAft>
              <a:buFont typeface="Symbol" panose="05050102010706020507" pitchFamily="18" charset="2"/>
              <a:buChar char=""/>
            </a:pPr>
            <a:r>
              <a:rPr lang="ru-RU" sz="28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В день решение тестов подопытный не должен переживать каких-то сильных эмоциональных переживаний.</a:t>
            </a:r>
          </a:p>
          <a:p>
            <a:pPr marL="342900" lvl="0" indent="-342900">
              <a:lnSpc>
                <a:spcPts val="2100"/>
              </a:lnSpc>
              <a:spcBef>
                <a:spcPts val="450"/>
              </a:spcBef>
              <a:spcAft>
                <a:spcPts val="1500"/>
              </a:spcAft>
              <a:buFont typeface="Symbol" panose="05050102010706020507" pitchFamily="18" charset="2"/>
              <a:buChar char=""/>
            </a:pPr>
            <a:r>
              <a:rPr lang="ru-RU" sz="28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Тесты должны проходить без помощи.</a:t>
            </a:r>
          </a:p>
          <a:p>
            <a:pPr marL="342900" indent="-342900">
              <a:lnSpc>
                <a:spcPts val="2100"/>
              </a:lnSpc>
              <a:spcBef>
                <a:spcPts val="450"/>
              </a:spcBef>
              <a:spcAft>
                <a:spcPts val="1500"/>
              </a:spcAft>
              <a:buFont typeface="Symbol" panose="05050102010706020507" pitchFamily="18" charset="2"/>
              <a:buChar char=""/>
            </a:pPr>
            <a:r>
              <a:rPr lang="ru-RU" sz="2800" kern="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Тестируемый должен отвечать честно.</a:t>
            </a:r>
            <a:endParaRPr lang="ru-RU" sz="2800" dirty="0">
              <a:solidFill>
                <a:schemeClr val="bg1"/>
              </a:solidFill>
            </a:endParaRPr>
          </a:p>
          <a:p>
            <a:pPr marL="342900" lvl="0" indent="-342900">
              <a:lnSpc>
                <a:spcPts val="2100"/>
              </a:lnSpc>
              <a:spcBef>
                <a:spcPts val="450"/>
              </a:spcBef>
              <a:spcAft>
                <a:spcPts val="1500"/>
              </a:spcAft>
              <a:buFont typeface="Symbol" panose="05050102010706020507" pitchFamily="18" charset="2"/>
              <a:buChar char=""/>
            </a:pPr>
            <a:endParaRPr lang="ru-RU" sz="2800" dirty="0">
              <a:solidFill>
                <a:schemeClr val="bg1"/>
              </a:solidFill>
              <a:effectLst/>
              <a:ea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3D1B223-AC87-8052-B1B9-DA98C8B8E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588" y="-195712"/>
            <a:ext cx="4838670" cy="7249424"/>
          </a:xfrm>
          <a:prstGeom prst="rect">
            <a:avLst/>
          </a:prstGeom>
          <a:effectLst>
            <a:softEdge rad="317500"/>
          </a:effectLst>
        </p:spPr>
      </p:pic>
    </p:spTree>
    <p:extLst>
      <p:ext uri="{BB962C8B-B14F-4D97-AF65-F5344CB8AC3E}">
        <p14:creationId xmlns:p14="http://schemas.microsoft.com/office/powerpoint/2010/main" val="851757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BEAAE45-2E27-6CB8-5466-DA9315046DE6}"/>
              </a:ext>
            </a:extLst>
          </p:cNvPr>
          <p:cNvSpPr txBox="1"/>
          <p:nvPr/>
        </p:nvSpPr>
        <p:spPr>
          <a:xfrm>
            <a:off x="3048000" y="232839"/>
            <a:ext cx="6096000" cy="497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algn="ctr">
              <a:lnSpc>
                <a:spcPts val="2100"/>
              </a:lnSpc>
              <a:spcBef>
                <a:spcPts val="450"/>
              </a:spcBef>
              <a:spcAft>
                <a:spcPts val="1500"/>
              </a:spcAft>
            </a:pPr>
            <a:r>
              <a:rPr lang="ru-RU" sz="6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Результаты</a:t>
            </a:r>
            <a:r>
              <a:rPr lang="ru-RU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теста</a:t>
            </a:r>
            <a:endParaRPr lang="ru-RU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A307A5-EC8F-94AB-F50F-CF1B031416BF}"/>
              </a:ext>
            </a:extLst>
          </p:cNvPr>
          <p:cNvSpPr txBox="1"/>
          <p:nvPr/>
        </p:nvSpPr>
        <p:spPr>
          <a:xfrm>
            <a:off x="9332686" y="6386285"/>
            <a:ext cx="5326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Сравнения 0 дня и 30 дня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D675A6E-B965-761A-90A2-64FC13B922A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65" t="24288" r="16888" b="16173"/>
          <a:stretch/>
        </p:blipFill>
        <p:spPr bwMode="auto">
          <a:xfrm>
            <a:off x="254798" y="1979284"/>
            <a:ext cx="5586404" cy="3160690"/>
          </a:xfrm>
          <a:prstGeom prst="rect">
            <a:avLst/>
          </a:prstGeom>
          <a:noFill/>
          <a:ln>
            <a:noFill/>
          </a:ln>
          <a:effectLst>
            <a:softEdge rad="31750"/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55D989A-4037-4521-CEC5-8A5C64D8080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71" t="19765" r="12598" b="12617"/>
          <a:stretch/>
        </p:blipFill>
        <p:spPr bwMode="auto">
          <a:xfrm>
            <a:off x="6271386" y="1979284"/>
            <a:ext cx="5665816" cy="3160690"/>
          </a:xfrm>
          <a:prstGeom prst="rect">
            <a:avLst/>
          </a:prstGeom>
          <a:noFill/>
          <a:ln>
            <a:noFill/>
          </a:ln>
          <a:effectLst>
            <a:softEdge rad="31750"/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28506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BEAAE45-2E27-6CB8-5466-DA9315046DE6}"/>
              </a:ext>
            </a:extLst>
          </p:cNvPr>
          <p:cNvSpPr txBox="1"/>
          <p:nvPr/>
        </p:nvSpPr>
        <p:spPr>
          <a:xfrm>
            <a:off x="3048000" y="232839"/>
            <a:ext cx="6096000" cy="497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algn="ctr">
              <a:lnSpc>
                <a:spcPts val="2100"/>
              </a:lnSpc>
              <a:spcBef>
                <a:spcPts val="450"/>
              </a:spcBef>
              <a:spcAft>
                <a:spcPts val="1500"/>
              </a:spcAft>
            </a:pPr>
            <a:r>
              <a:rPr lang="ru-RU" sz="6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Результаты</a:t>
            </a:r>
            <a:r>
              <a:rPr lang="ru-RU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теста</a:t>
            </a:r>
            <a:endParaRPr lang="ru-RU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A307A5-EC8F-94AB-F50F-CF1B031416BF}"/>
              </a:ext>
            </a:extLst>
          </p:cNvPr>
          <p:cNvSpPr txBox="1"/>
          <p:nvPr/>
        </p:nvSpPr>
        <p:spPr>
          <a:xfrm>
            <a:off x="9332686" y="6386285"/>
            <a:ext cx="5326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Сравнения 0 дня и 30 дня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43237DB-AEFA-AD8F-05C8-A7FF7487417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00" t="22622" r="31833" b="5949"/>
          <a:stretch/>
        </p:blipFill>
        <p:spPr bwMode="auto">
          <a:xfrm>
            <a:off x="659167" y="1091882"/>
            <a:ext cx="5110480" cy="4674235"/>
          </a:xfrm>
          <a:prstGeom prst="rect">
            <a:avLst/>
          </a:prstGeom>
          <a:noFill/>
          <a:ln>
            <a:noFill/>
          </a:ln>
          <a:effectLst>
            <a:softEdge rad="127000"/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F7EE410-0A4B-DA73-83FB-8573CA55A8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48" t="21669" r="25065" b="5950"/>
          <a:stretch/>
        </p:blipFill>
        <p:spPr bwMode="auto">
          <a:xfrm>
            <a:off x="6755167" y="1095511"/>
            <a:ext cx="4777666" cy="4670606"/>
          </a:xfrm>
          <a:prstGeom prst="rect">
            <a:avLst/>
          </a:prstGeom>
          <a:noFill/>
          <a:ln>
            <a:noFill/>
          </a:ln>
          <a:effectLst>
            <a:softEdge rad="127000"/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2110434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BEAAE45-2E27-6CB8-5466-DA9315046DE6}"/>
              </a:ext>
            </a:extLst>
          </p:cNvPr>
          <p:cNvSpPr txBox="1"/>
          <p:nvPr/>
        </p:nvSpPr>
        <p:spPr>
          <a:xfrm>
            <a:off x="3048000" y="232839"/>
            <a:ext cx="6096000" cy="497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algn="ctr">
              <a:lnSpc>
                <a:spcPts val="2100"/>
              </a:lnSpc>
              <a:spcBef>
                <a:spcPts val="450"/>
              </a:spcBef>
              <a:spcAft>
                <a:spcPts val="1500"/>
              </a:spcAft>
            </a:pPr>
            <a:r>
              <a:rPr lang="ru-RU" sz="6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Результаты</a:t>
            </a:r>
            <a:r>
              <a:rPr lang="ru-RU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теста</a:t>
            </a:r>
            <a:endParaRPr lang="ru-RU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A307A5-EC8F-94AB-F50F-CF1B031416BF}"/>
              </a:ext>
            </a:extLst>
          </p:cNvPr>
          <p:cNvSpPr txBox="1"/>
          <p:nvPr/>
        </p:nvSpPr>
        <p:spPr>
          <a:xfrm>
            <a:off x="9332686" y="6386285"/>
            <a:ext cx="5326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Сравнения 0 дня и 30 дня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65A8F4-64F2-2E7F-C59B-8F4651D2A87E}"/>
              </a:ext>
            </a:extLst>
          </p:cNvPr>
          <p:cNvSpPr txBox="1"/>
          <p:nvPr/>
        </p:nvSpPr>
        <p:spPr>
          <a:xfrm>
            <a:off x="297543" y="1377156"/>
            <a:ext cx="7329714" cy="4103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Bef>
                <a:spcPts val="450"/>
              </a:spcBef>
              <a:spcAft>
                <a:spcPts val="1500"/>
              </a:spcAft>
              <a:buFont typeface="Symbol" panose="05050102010706020507" pitchFamily="18" charset="2"/>
              <a:buChar char=""/>
            </a:pPr>
            <a:r>
              <a:rPr lang="ru-RU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Процент агрессии</a:t>
            </a:r>
            <a:r>
              <a:rPr lang="en-US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:</a:t>
            </a:r>
            <a:r>
              <a:rPr lang="ru-RU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 3</a:t>
            </a:r>
            <a:r>
              <a:rPr lang="en-US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7</a:t>
            </a:r>
            <a:r>
              <a:rPr lang="ru-RU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% из 100%</a:t>
            </a:r>
          </a:p>
          <a:p>
            <a:pPr marL="342900" lvl="0" indent="-342900">
              <a:spcBef>
                <a:spcPts val="450"/>
              </a:spcBef>
              <a:spcAft>
                <a:spcPts val="1500"/>
              </a:spcAft>
              <a:buFont typeface="Symbol" panose="05050102010706020507" pitchFamily="18" charset="2"/>
              <a:buChar char=""/>
            </a:pPr>
            <a:r>
              <a:rPr lang="ru-RU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Какой темп музыки хочется услышать: спокойный.</a:t>
            </a:r>
          </a:p>
          <a:p>
            <a:pPr marL="342900" lvl="0" indent="-342900">
              <a:spcBef>
                <a:spcPts val="450"/>
              </a:spcBef>
              <a:spcAft>
                <a:spcPts val="1500"/>
              </a:spcAft>
              <a:buFont typeface="Symbol" panose="05050102010706020507" pitchFamily="18" charset="2"/>
              <a:buChar char=""/>
            </a:pPr>
            <a:r>
              <a:rPr lang="ru-RU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Цели на день</a:t>
            </a:r>
            <a:r>
              <a:rPr lang="en-US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:</a:t>
            </a:r>
            <a:r>
              <a:rPr lang="ru-RU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 обширные </a:t>
            </a:r>
          </a:p>
          <a:p>
            <a:pPr marL="342900" lvl="0" indent="-342900">
              <a:spcBef>
                <a:spcPts val="450"/>
              </a:spcBef>
              <a:spcAft>
                <a:spcPts val="1500"/>
              </a:spcAft>
              <a:buFont typeface="Symbol" panose="05050102010706020507" pitchFamily="18" charset="2"/>
              <a:buChar char=""/>
            </a:pPr>
            <a:r>
              <a:rPr lang="ru-RU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Заинтересованность в делах: не плохая </a:t>
            </a:r>
          </a:p>
          <a:p>
            <a:pPr marL="342900" lvl="0" indent="-342900">
              <a:spcBef>
                <a:spcPts val="450"/>
              </a:spcBef>
              <a:spcAft>
                <a:spcPts val="1500"/>
              </a:spcAft>
              <a:buFont typeface="Symbol" panose="05050102010706020507" pitchFamily="18" charset="2"/>
              <a:buChar char=""/>
            </a:pPr>
            <a:r>
              <a:rPr lang="ru-RU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Желание кричать</a:t>
            </a:r>
            <a:r>
              <a:rPr lang="en-US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: </a:t>
            </a:r>
            <a:r>
              <a:rPr lang="ru-RU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2</a:t>
            </a:r>
            <a:r>
              <a:rPr lang="en-US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4</a:t>
            </a:r>
            <a:r>
              <a:rPr lang="ru-RU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%</a:t>
            </a:r>
          </a:p>
          <a:p>
            <a:pPr marL="342900" lvl="0" indent="-342900">
              <a:spcBef>
                <a:spcPts val="450"/>
              </a:spcBef>
              <a:spcAft>
                <a:spcPts val="1500"/>
              </a:spcAft>
              <a:buFont typeface="Symbol" panose="05050102010706020507" pitchFamily="18" charset="2"/>
              <a:buChar char=""/>
            </a:pPr>
            <a:r>
              <a:rPr lang="ru-RU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Странные мысли</a:t>
            </a:r>
            <a:r>
              <a:rPr lang="en-US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:</a:t>
            </a:r>
            <a:r>
              <a:rPr lang="ru-RU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2</a:t>
            </a:r>
            <a:r>
              <a:rPr lang="en-US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4</a:t>
            </a:r>
            <a:r>
              <a:rPr lang="ru-RU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%</a:t>
            </a:r>
          </a:p>
          <a:p>
            <a:pPr marL="342900" lvl="0" indent="-342900">
              <a:spcBef>
                <a:spcPts val="450"/>
              </a:spcBef>
              <a:spcAft>
                <a:spcPts val="1500"/>
              </a:spcAft>
              <a:buFont typeface="Symbol" panose="05050102010706020507" pitchFamily="18" charset="2"/>
              <a:buChar char=""/>
            </a:pPr>
            <a:r>
              <a:rPr lang="ru-RU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Задумчивость о будущем</a:t>
            </a:r>
            <a:r>
              <a:rPr lang="en-US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: 30-33%</a:t>
            </a:r>
            <a:endParaRPr lang="ru-RU" dirty="0">
              <a:solidFill>
                <a:schemeClr val="bg1"/>
              </a:solidFill>
              <a:effectLst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450"/>
              </a:spcBef>
              <a:spcAft>
                <a:spcPts val="1500"/>
              </a:spcAft>
              <a:buFont typeface="Symbol" panose="05050102010706020507" pitchFamily="18" charset="2"/>
              <a:buChar char=""/>
            </a:pPr>
            <a:r>
              <a:rPr lang="ru-RU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Процент внутренней тяжести жизни</a:t>
            </a:r>
            <a:r>
              <a:rPr lang="en-US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:</a:t>
            </a:r>
            <a:r>
              <a:rPr lang="ru-RU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48%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803145-6B73-D5BF-8CCC-04CFF3E1901C}"/>
              </a:ext>
            </a:extLst>
          </p:cNvPr>
          <p:cNvSpPr txBox="1"/>
          <p:nvPr/>
        </p:nvSpPr>
        <p:spPr>
          <a:xfrm>
            <a:off x="6096000" y="1377156"/>
            <a:ext cx="7329714" cy="4103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Bef>
                <a:spcPts val="450"/>
              </a:spcBef>
              <a:spcAft>
                <a:spcPts val="1500"/>
              </a:spcAft>
              <a:buFont typeface="Symbol" panose="05050102010706020507" pitchFamily="18" charset="2"/>
              <a:buChar char=""/>
            </a:pPr>
            <a:r>
              <a:rPr lang="ru-RU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Процент агрессии</a:t>
            </a:r>
            <a:r>
              <a:rPr lang="en-US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:</a:t>
            </a:r>
            <a:r>
              <a:rPr lang="ru-RU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 58% из 100%</a:t>
            </a:r>
          </a:p>
          <a:p>
            <a:pPr marL="342900" lvl="0" indent="-342900">
              <a:spcBef>
                <a:spcPts val="450"/>
              </a:spcBef>
              <a:spcAft>
                <a:spcPts val="1500"/>
              </a:spcAft>
              <a:buFont typeface="Symbol" panose="05050102010706020507" pitchFamily="18" charset="2"/>
              <a:buChar char=""/>
            </a:pPr>
            <a:r>
              <a:rPr lang="ru-RU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Какой темп музыки хочется услышать: Громкая.</a:t>
            </a:r>
          </a:p>
          <a:p>
            <a:pPr marL="342900" lvl="0" indent="-342900">
              <a:spcBef>
                <a:spcPts val="450"/>
              </a:spcBef>
              <a:spcAft>
                <a:spcPts val="1500"/>
              </a:spcAft>
              <a:buFont typeface="Symbol" panose="05050102010706020507" pitchFamily="18" charset="2"/>
              <a:buChar char=""/>
            </a:pPr>
            <a:r>
              <a:rPr lang="ru-RU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Цели на день</a:t>
            </a:r>
            <a:r>
              <a:rPr lang="en-US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:</a:t>
            </a:r>
            <a:r>
              <a:rPr lang="ru-RU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 Спать.</a:t>
            </a:r>
          </a:p>
          <a:p>
            <a:pPr marL="342900" lvl="0" indent="-342900">
              <a:spcBef>
                <a:spcPts val="450"/>
              </a:spcBef>
              <a:spcAft>
                <a:spcPts val="1500"/>
              </a:spcAft>
              <a:buFont typeface="Symbol" panose="05050102010706020507" pitchFamily="18" charset="2"/>
              <a:buChar char=""/>
            </a:pPr>
            <a:r>
              <a:rPr lang="ru-RU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Заинтересованность в делах: чуть ниже среднего.</a:t>
            </a:r>
          </a:p>
          <a:p>
            <a:pPr marL="342900" lvl="0" indent="-342900">
              <a:spcBef>
                <a:spcPts val="450"/>
              </a:spcBef>
              <a:spcAft>
                <a:spcPts val="1500"/>
              </a:spcAft>
              <a:buFont typeface="Symbol" panose="05050102010706020507" pitchFamily="18" charset="2"/>
              <a:buChar char=""/>
            </a:pPr>
            <a:r>
              <a:rPr lang="ru-RU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Желание кричать</a:t>
            </a:r>
            <a:r>
              <a:rPr lang="en-US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: </a:t>
            </a:r>
            <a:r>
              <a:rPr lang="ru-RU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68%</a:t>
            </a:r>
          </a:p>
          <a:p>
            <a:pPr marL="342900" lvl="0" indent="-342900">
              <a:spcBef>
                <a:spcPts val="450"/>
              </a:spcBef>
              <a:spcAft>
                <a:spcPts val="1500"/>
              </a:spcAft>
              <a:buFont typeface="Symbol" panose="05050102010706020507" pitchFamily="18" charset="2"/>
              <a:buChar char=""/>
            </a:pPr>
            <a:r>
              <a:rPr lang="ru-RU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Странные мысли</a:t>
            </a:r>
            <a:r>
              <a:rPr lang="en-US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:</a:t>
            </a:r>
            <a:r>
              <a:rPr lang="ru-RU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50%</a:t>
            </a:r>
          </a:p>
          <a:p>
            <a:pPr marL="342900" lvl="0" indent="-342900">
              <a:spcBef>
                <a:spcPts val="450"/>
              </a:spcBef>
              <a:spcAft>
                <a:spcPts val="1500"/>
              </a:spcAft>
              <a:buFont typeface="Symbol" panose="05050102010706020507" pitchFamily="18" charset="2"/>
              <a:buChar char=""/>
            </a:pPr>
            <a:r>
              <a:rPr lang="ru-RU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Задумчивость о будущем</a:t>
            </a:r>
            <a:r>
              <a:rPr lang="en-US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: </a:t>
            </a:r>
            <a:r>
              <a:rPr lang="ru-RU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69</a:t>
            </a:r>
            <a:r>
              <a:rPr lang="en-US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%</a:t>
            </a:r>
            <a:endParaRPr lang="ru-RU" dirty="0">
              <a:solidFill>
                <a:schemeClr val="bg1"/>
              </a:solidFill>
              <a:effectLst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450"/>
              </a:spcBef>
              <a:spcAft>
                <a:spcPts val="1500"/>
              </a:spcAft>
              <a:buFont typeface="Symbol" panose="05050102010706020507" pitchFamily="18" charset="2"/>
              <a:buChar char=""/>
            </a:pPr>
            <a:r>
              <a:rPr lang="ru-RU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Процент внутренней тяжести жизни</a:t>
            </a:r>
            <a:r>
              <a:rPr lang="en-US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:</a:t>
            </a:r>
            <a:r>
              <a:rPr lang="ru-RU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67%</a:t>
            </a:r>
          </a:p>
        </p:txBody>
      </p:sp>
    </p:spTree>
    <p:extLst>
      <p:ext uri="{BB962C8B-B14F-4D97-AF65-F5344CB8AC3E}">
        <p14:creationId xmlns:p14="http://schemas.microsoft.com/office/powerpoint/2010/main" val="26288822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BEAAE45-2E27-6CB8-5466-DA9315046DE6}"/>
              </a:ext>
            </a:extLst>
          </p:cNvPr>
          <p:cNvSpPr txBox="1"/>
          <p:nvPr/>
        </p:nvSpPr>
        <p:spPr>
          <a:xfrm>
            <a:off x="3048000" y="232839"/>
            <a:ext cx="6096000" cy="44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algn="ctr">
              <a:lnSpc>
                <a:spcPts val="2100"/>
              </a:lnSpc>
              <a:spcBef>
                <a:spcPts val="450"/>
              </a:spcBef>
              <a:spcAft>
                <a:spcPts val="1500"/>
              </a:spcAft>
            </a:pPr>
            <a:r>
              <a:rPr lang="ru-RU" sz="4400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ВЫВОД</a:t>
            </a:r>
            <a:endParaRPr lang="ru-RU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70D021-8EBE-3130-FE7C-C42EBDB74CB8}"/>
              </a:ext>
            </a:extLst>
          </p:cNvPr>
          <p:cNvSpPr txBox="1"/>
          <p:nvPr/>
        </p:nvSpPr>
        <p:spPr>
          <a:xfrm>
            <a:off x="478971" y="1360439"/>
            <a:ext cx="1123405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br>
              <a:rPr lang="ru-RU" sz="2400" dirty="0">
                <a:solidFill>
                  <a:schemeClr val="bg1"/>
                </a:solidFill>
              </a:rPr>
            </a:br>
            <a:r>
              <a:rPr lang="ru-RU" sz="3600" b="0" i="0" dirty="0">
                <a:solidFill>
                  <a:schemeClr val="bg1"/>
                </a:solidFill>
                <a:effectLst/>
              </a:rPr>
              <a:t>Отсутствие музыки в жизни человека имеет положительные и отрицательные последствия. Без музыки люди сталкиваются с проблемами напрямую, вызывая грусть и апатию. Музыка дает энергию и мотивацию, поэтому ее отсутствие может привести к потере интереса к жизни.</a:t>
            </a:r>
            <a:endParaRPr lang="ru-RU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39591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C03730CC-5848-EFE5-5A71-964904DA675E}"/>
              </a:ext>
            </a:extLst>
          </p:cNvPr>
          <p:cNvSpPr txBox="1"/>
          <p:nvPr/>
        </p:nvSpPr>
        <p:spPr>
          <a:xfrm>
            <a:off x="500743" y="695958"/>
            <a:ext cx="10551886" cy="5088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algn="ctr">
              <a:spcBef>
                <a:spcPts val="450"/>
              </a:spcBef>
              <a:spcAft>
                <a:spcPts val="1500"/>
              </a:spcAft>
            </a:pPr>
            <a:r>
              <a:rPr lang="ru-RU" sz="28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Заключение </a:t>
            </a:r>
          </a:p>
          <a:p>
            <a:pPr marL="685800" algn="ctr">
              <a:spcBef>
                <a:spcPts val="450"/>
              </a:spcBef>
              <a:spcAft>
                <a:spcPts val="1500"/>
              </a:spcAft>
            </a:pPr>
            <a:r>
              <a:rPr lang="ru-RU" sz="28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Ориентируясь на проведённый тест, личные исследования и статьи, хотелось бы ответить на гипотезы. Музыка с высоким темпом и яркими мелодиями и правда стимулирует выделения эндорфинов и серотонина, улучшает настроение и снижает стресс. Из чего вытекает что музыка способна менять эмоции, чувства и даже мировоззрение людей. Музыка и по сей день является неотъемлемой частью жизни людей. Но обычным обывателям стоит следить за потребляемой музыкой, ибо неправленый подбор может в конечном итоге привести к необратимым последствиям.</a:t>
            </a:r>
          </a:p>
        </p:txBody>
      </p:sp>
    </p:spTree>
    <p:extLst>
      <p:ext uri="{BB962C8B-B14F-4D97-AF65-F5344CB8AC3E}">
        <p14:creationId xmlns:p14="http://schemas.microsoft.com/office/powerpoint/2010/main" val="19928588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382</Words>
  <Application>Microsoft Office PowerPoint</Application>
  <PresentationFormat>Широкоэкранный</PresentationFormat>
  <Paragraphs>45</Paragraphs>
  <Slides>14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Symbol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Даня Кравцов</dc:creator>
  <cp:lastModifiedBy>Z0nik2 |</cp:lastModifiedBy>
  <cp:revision>2</cp:revision>
  <dcterms:created xsi:type="dcterms:W3CDTF">2023-12-18T17:33:40Z</dcterms:created>
  <dcterms:modified xsi:type="dcterms:W3CDTF">2024-02-21T03:27:49Z</dcterms:modified>
</cp:coreProperties>
</file>